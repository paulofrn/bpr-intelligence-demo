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 tarde. Antes de começar, este material é confidencial — peço que não compartilhe. O que vou apresentar nos próximos 25 minutos pode mudar a forma como a sua imobiliária opera.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Vou seguir essa estrutura. Primeiro entender o problema, depois a solução, e no final os números e o que você leva.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Barra movimentou R$1,6 bilhão só no primeiro quadrimestre. O segmento de luxo cresceu 75%. O metro quadrado valorizou 19% em dois anos. Não é um mercado parado — é um mercado explodindo onde quem tem inteligência de dados captura desproporcional.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Essas são as dores que seu cliente de R$10 milhões sente. Ele gasta meses procurando, paga mais do que deveria, e 1 em cada 3 negócios cai. Isso tudo tem custo — e com custo-hora executivo entre R$400-600 segundo a Page Executive, cada semana perdida custa R$16-24 mil ao seu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Mais da metade dos compradores dizem que o mais difícil é achar o imóvel certo. E 78% dos seus pares no mercado já identificam tecnologia como prioridade número 1. A questão não é SE alguém vai resolver isso — é QUEM vai resolver primeiro na sua região.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BPR Intelligence transforma a imobiliária de um modelo artesanal — dependente de feeling e relacionamento — em uma plataforma de inteligência que usa dados para encontrar, avaliar, negociar e fidelizar. Sem substituir o corretor. Potencializando 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5 ferramentas que funcionam integradas. Cada uma resolve uma fricção específica que mostrei antes. Vou passar por cada uma rapidamente.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vez do corretor perguntar 'o que você procura?' e anotar num papel, o Digital Twin mapeia 47 dimensões do comprador. Desde o óbvio — metragem, bairro — até o implícito: tolerância a ruído, padrão de luminosidade, proximidade de escola. Isso elimina as visitas que desperdiçam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ferramenta mais diferenciadora. Até 30% dos imóveis premium nunca chegam ao mercado aberto — são vendidos por inventário, divórcio, partilha. O Crystal Ball monitora sinais públicos e prevê com 70-85% de precisão quais imóveis estarão disponíveis em 45-90 dias. Quem acessa antes, negocia 10-17% melhor.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Buyer's agents no mercado britânico — o mais maduro do mundo — geram em média 9-10% de economia. Num imóvel de R$10 milhões, são R$900 mil a R$1 milhão. No Brasil, onde esse serviço não existe de forma estruturada, a assimetria é ainda maior.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Family Office transforma cliente de uma transação em cliente para a vida. Em vez de ganhar na venda e nunca mais ver o cliente, você gerencia o patrimônio dele e cobra retainer mensal. Alpha Intelligence é o braço B2B — dados de mercado vendidos como serviço para fundos, family offices, incorporadoras.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transação alimenta o modelo. Cada dado de comportamento treina o Digital Twin. Em 18 meses, sua base de inteligência é tão profunda que nenhum concorrente consegue replicar — mesmo copiando a tecnologia. Os dados são o moat.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mercado total do Rio nos primeiros 9 meses de 2024 foi R$28,8 bilhões. A Barra sozinha representa um terço. Nosso foco são os 4 condomínios de ultra-alto padrão — um mercado concentrado onde dados fazem mais diferença.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4 fontes de receita, sendo que 2 delas são recorrentes — Family Office e Alpha. Isso reduz a dependência do modelo transacional e cria previsibilidade. O benchmark de mercado para buyer's agent é 3-5% de success fee.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LTV/CAC de 5-8x está acima do benchmark de mercado que é 3-4x para best-in-class. Isso acontece porque o modelo combina transação com recorrência. E um dado importante: 88% dos compradores de luxo pagam em cash — sem dependência de crédito.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projeção do cenário base — 3 a 5 corretores, ticket médio de R$7 milhões, 12 transações por ano. Break-even no mês 14. ROI de 3-4x no primeiro ano. Esses números são editáveis — na planilha financeira, você coloca os SEUS números e vê o SEU retorno.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MySide é o mais próximo no Brasil — 100% buyer-side, 9% de economia. Mas não tem IA preditiva. Black Brick em Londres cobra 2-2,5% e gera economia consistente, mas não opera no Brasil. Matchpoint tem 500+ clientes mas modelo diferente. O BPR é o único que combina buyer's agency com IA preditiva no mercado brasileiro.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Cenário ilustrativo baseado nos dados reais: família executiva busca no Península, ticket R$9-10 milhões. Digital Twin mapeia o perfil em 1 semana. Crystal Ball identifica unidade em pré-partilha na semana 3 — antes de chegar ao mercado. Negociação IA fecha com 9,5% de desconto. Economia de R$900 mil em 6 semanas. No modelo tradicional, seriam 4 meses e provavelmente pelo asking price.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Segundo caso: investidor buscando no Golf Olímpico, o mais exclusivo. No modelo tradicional, veria 8-12 unidades dos portais, gastaria 4 meses, pagaria o preço pedido. Com BPR, o Crystal Ball traz 5 imóveis ranqueados por score — incluindo off-market. Economia de 12%. Dados de Zillow e Drexel University confirmam que off-market vende por 1,5-17,5% menos.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retorno projetado é de 3 a 4 vezes o investimento no primeiro ano, escalando para 7x no segundo. Isso é uma projeção baseada em cenário, não uma promessa — os inputs são editáveis na planilha. Mas para contextualizar: 30% dos CEOs globais já reportam aumento de receita atribuível a IA, segundo a PwC.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8 entregáveis. Destaco dois pontos: código-fonte completo — é seu, você pode trocar de software house amanhã e continuar operando. E 120 horas de advisory nos primeiros 6 meses para garantir que a implementação saia do papel.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opções. O Essencial entrega a estratégia e os números. O Profissional — que é o que recomendo — entrega tudo: estratégia, guia técnico, Aria de leads, e 80 horas de acompanhamento. O Enterprise inclui assistência na implementação com a software house.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6 meses, tudo está rodando. No mês 2, o Digital Twin já está operacional — você já pode começar a usar com clientes. No mês 3, o Crystal Ball começa a prever. Não é um projeto de 2 anos — em 90 dias você já tem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forças convergindo: o investimento em proptech explodiu 68% em um ano. IA imobiliária cresce o dobro da proptech convencional. E 78% dos seus pares já priorizaram tecnologia. A janela de vantagem competitiva é de 18 meses — depois, será tabela de preço.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Obrigado pelo tempo. O próximo passo é uma sessão de 45 minutos onde eu abro a planilha financeira com os SEUS números — seus corretores, seu ticket médio, sua região. Você vê o ROI calculado para a sua realidade. Sem compromisso.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CHARCOAL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IGHLIGHT_GOLD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B037"/>
                </a:solidFill>
              </a:rPr>
              <a:t>◆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0" y="146304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9B0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BPR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0" y="246888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754880" y="3246120"/>
            <a:ext cx="2651760" cy="27432"/>
          </a:xfrm>
          <a:prstGeom prst="rect">
            <a:avLst/>
          </a:prstGeom>
          <a:solidFill>
            <a:srgbClr val="C9B037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3474720"/>
            <a:ext cx="8531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para Imobiliárias de Alto Padrão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0" y="42062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Fevereiro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B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B0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0" y="1783080"/>
            <a:ext cx="27432" cy="365760"/>
          </a:xfrm>
          <a:prstGeom prst="rect">
            <a:avLst/>
          </a:prstGeom>
          <a:solidFill>
            <a:srgbClr val="C9B037"/>
          </a:solidFill>
          <a:ln/>
        </p:spPr>
      </p:sp>
      <p:sp>
        <p:nvSpPr>
          <p:cNvPr id="6" name="Text 4"/>
          <p:cNvSpPr/>
          <p:nvPr/>
        </p:nvSpPr>
        <p:spPr>
          <a:xfrm>
            <a:off x="2103120" y="16459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 O Mercado Hoje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B0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828800" y="3154680"/>
            <a:ext cx="27432" cy="365760"/>
          </a:xfrm>
          <a:prstGeom prst="rect">
            <a:avLst/>
          </a:prstGeom>
          <a:solidFill>
            <a:srgbClr val="C9B037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30175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As Fricções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4389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B0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828800" y="4526280"/>
            <a:ext cx="27432" cy="365760"/>
          </a:xfrm>
          <a:prstGeom prst="rect">
            <a:avLst/>
          </a:prstGeom>
          <a:solidFill>
            <a:srgbClr val="C9B037"/>
          </a:solidFill>
          <a:ln/>
        </p:spPr>
      </p:sp>
      <p:sp>
        <p:nvSpPr>
          <p:cNvPr id="12" name="Text 10"/>
          <p:cNvSpPr/>
          <p:nvPr/>
        </p:nvSpPr>
        <p:spPr>
          <a:xfrm>
            <a:off x="2103120" y="43891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  A Visão BPR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8368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B0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315200" y="1783080"/>
            <a:ext cx="27432" cy="365760"/>
          </a:xfrm>
          <a:prstGeom prst="rect">
            <a:avLst/>
          </a:prstGeom>
          <a:solidFill>
            <a:srgbClr val="C9B037"/>
          </a:solidFill>
          <a:ln/>
        </p:spPr>
      </p:sp>
      <p:sp>
        <p:nvSpPr>
          <p:cNvPr id="15" name="Text 13"/>
          <p:cNvSpPr/>
          <p:nvPr/>
        </p:nvSpPr>
        <p:spPr>
          <a:xfrm>
            <a:off x="7589520" y="16459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O Ecossistema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58368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B0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315200" y="3154680"/>
            <a:ext cx="27432" cy="365760"/>
          </a:xfrm>
          <a:prstGeom prst="rect">
            <a:avLst/>
          </a:prstGeom>
          <a:solidFill>
            <a:srgbClr val="C9B037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0" y="30175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Os Números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83680" y="4389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B0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7315200" y="4526280"/>
            <a:ext cx="27432" cy="365760"/>
          </a:xfrm>
          <a:prstGeom prst="rect">
            <a:avLst/>
          </a:prstGeom>
          <a:solidFill>
            <a:srgbClr val="C9B037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0" y="43891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✶  O Pacote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Mercado Hoje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da Tijuca — o epicentro do luxo carioca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383280" cy="3474720"/>
          </a:xfrm>
          <a:prstGeom prst="roundRect">
            <a:avLst>
              <a:gd name="adj" fmla="val 2703"/>
            </a:avLst>
          </a:prstGeom>
          <a:solidFill>
            <a:srgbClr val="2A2A3E"/>
          </a:solidFill>
          <a:ln w="12700">
            <a:solidFill>
              <a:srgbClr val="3A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9B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⌂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B0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R$ 1,6 Bi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68680" y="38404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VGV Barra da Tijuca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quadrimestre 2025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ABRAINC 2025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2011680"/>
            <a:ext cx="3383280" cy="3474720"/>
          </a:xfrm>
          <a:prstGeom prst="roundRect">
            <a:avLst>
              <a:gd name="adj" fmla="val 2703"/>
            </a:avLst>
          </a:prstGeom>
          <a:solidFill>
            <a:srgbClr val="2A2A3E"/>
          </a:solidFill>
          <a:ln w="12700">
            <a:solidFill>
              <a:srgbClr val="3A3A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9B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26280" y="30175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B0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+75%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617720" y="38404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do segmento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luxo no RJ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17720" y="4663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ABRAINC 2025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38160" y="2011680"/>
            <a:ext cx="3383280" cy="3474720"/>
          </a:xfrm>
          <a:prstGeom prst="roundRect">
            <a:avLst>
              <a:gd name="adj" fmla="val 2703"/>
            </a:avLst>
          </a:prstGeom>
          <a:solidFill>
            <a:srgbClr val="2A2A3E"/>
          </a:solidFill>
          <a:ln w="12700">
            <a:solidFill>
              <a:srgbClr val="3A3A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9B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275320" y="30175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B0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+19%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8366760" y="38404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Valorização do m² na Barra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2023-2025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66760" y="4663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ABRAINC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Fricções do CEO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seu cliente de R$ 10 milhões enfrenta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383280" cy="3474720"/>
          </a:xfrm>
          <a:prstGeom prst="roundRect">
            <a:avLst>
              <a:gd name="adj" fmla="val 2703"/>
            </a:avLst>
          </a:prstGeom>
          <a:solidFill>
            <a:srgbClr val="2A2A3E"/>
          </a:solidFill>
          <a:ln w="19050">
            <a:solidFill>
              <a:srgbClr val="C9B0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57400"/>
            <a:ext cx="3291840" cy="54864"/>
          </a:xfrm>
          <a:prstGeom prst="rect">
            <a:avLst/>
          </a:prstGeom>
          <a:solidFill>
            <a:srgbClr val="C9B03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B037"/>
                </a:solidFill>
              </a:rPr>
              <a:t>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80160" y="22402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10+ semanas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29260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do comprador (NAR 2025).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luxo: 10+ meses (Concierge Auctions)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2011680"/>
            <a:ext cx="3383280" cy="3474720"/>
          </a:xfrm>
          <a:prstGeom prst="roundRect">
            <a:avLst>
              <a:gd name="adj" fmla="val 2703"/>
            </a:avLst>
          </a:prstGeom>
          <a:solidFill>
            <a:srgbClr val="2A2A3E"/>
          </a:solidFill>
          <a:ln w="19050">
            <a:solidFill>
              <a:srgbClr val="00A3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2057400"/>
            <a:ext cx="3291840" cy="54864"/>
          </a:xfrm>
          <a:prstGeom prst="rect">
            <a:avLst/>
          </a:prstGeom>
          <a:solidFill>
            <a:srgbClr val="00A3B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A3B5"/>
                </a:solidFill>
              </a:rPr>
              <a:t>❇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29200" y="22402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9-17% sobrepreço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17720" y="2743200"/>
            <a:ext cx="29260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representação exclusiva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(Ridgestone / Bright MLS-Drexel)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2011680"/>
            <a:ext cx="3383280" cy="3474720"/>
          </a:xfrm>
          <a:prstGeom prst="roundRect">
            <a:avLst>
              <a:gd name="adj" fmla="val 2703"/>
            </a:avLst>
          </a:prstGeom>
          <a:solidFill>
            <a:srgbClr val="2A2A3E"/>
          </a:solidFill>
          <a:ln w="19050">
            <a:solidFill>
              <a:srgbClr val="C9B03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3880" y="2057400"/>
            <a:ext cx="3291840" cy="54864"/>
          </a:xfrm>
          <a:prstGeom prst="rect">
            <a:avLst/>
          </a:prstGeom>
          <a:solidFill>
            <a:srgbClr val="C9B037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B037"/>
                </a:solidFill>
              </a:rPr>
              <a:t>↔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778240" y="22402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 fall-through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66760" y="2743200"/>
            <a:ext cx="29260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&lt;10% com buyer's agent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(Black Brick UK)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B037"/>
          </a:solidFill>
          <a:ln/>
        </p:spPr>
      </p:sp>
      <p:sp>
        <p:nvSpPr>
          <p:cNvPr id="3" name="Text 1"/>
          <p:cNvSpPr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9B037"/>
                </a:solidFill>
              </a:rPr>
              <a:t>⚠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C9B0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56%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1828800" y="2560320"/>
            <a:ext cx="8531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compradores dizem que encontrar o imóvel certo</a:t>
            </a:r>
            <a:endParaRPr lang="en-US" sz="2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aspecto mais difícil da aquisição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3383280"/>
            <a:ext cx="8531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 — National Association of Realtors, 2025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0" y="4023360"/>
            <a:ext cx="2130552" cy="18288"/>
          </a:xfrm>
          <a:prstGeom prst="rect">
            <a:avLst/>
          </a:prstGeom>
          <a:solidFill>
            <a:srgbClr val="C9B037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4297680"/>
            <a:ext cx="85313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dos executivos do setor imobiliário identificam</a:t>
            </a:r>
            <a:endParaRPr lang="en-US" sz="1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adoção de tecnologia como prioridade #1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828800" y="5029200"/>
            <a:ext cx="8531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— 29th Global CEO Survey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137160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9B037"/>
                </a:solidFill>
              </a:rPr>
              <a:t>✦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2194560"/>
            <a:ext cx="944575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 imobiliária que vende</a:t>
            </a:r>
            <a:endParaRPr lang="en-US" sz="3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a imobiliária que pensa.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0"/>
            <a:ext cx="8531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B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ferramentas de IA integradas. Uma plataforma de inteligência.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Ecossistema BPR Intelligence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727448" y="2560320"/>
            <a:ext cx="2743200" cy="1280160"/>
          </a:xfrm>
          <a:prstGeom prst="ellipse">
            <a:avLst/>
          </a:prstGeom>
          <a:solidFill>
            <a:srgbClr val="0D0D0D"/>
          </a:solidFill>
          <a:ln w="31750">
            <a:solidFill>
              <a:srgbClr val="C9B0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27448" y="25603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C9B0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BPR</a:t>
            </a:r>
            <a:endParaRPr lang="en-US" sz="1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C9B0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 flipH="1" flipV="1">
            <a:off x="2057400" y="1645920"/>
            <a:ext cx="4041648" cy="1554480"/>
          </a:xfrm>
          <a:prstGeom prst="line">
            <a:avLst/>
          </a:prstGeom>
          <a:noFill/>
          <a:ln w="12700">
            <a:solidFill>
              <a:srgbClr val="C9B037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914400" y="118872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2A2A3E"/>
          </a:solidFill>
          <a:ln w="12700">
            <a:solidFill>
              <a:srgbClr val="C9B0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1887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☺  Digital Twin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 flipV="1">
            <a:off x="6099048" y="1645920"/>
            <a:ext cx="4005072" cy="1554480"/>
          </a:xfrm>
          <a:prstGeom prst="line">
            <a:avLst/>
          </a:prstGeom>
          <a:noFill/>
          <a:ln w="12700">
            <a:solidFill>
              <a:srgbClr val="C9B037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8961120" y="118872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2A2A3E"/>
          </a:solidFill>
          <a:ln w="12700">
            <a:solidFill>
              <a:srgbClr val="C9B0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0" y="11887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Crystal Ball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 flipH="1">
            <a:off x="1600200" y="3200400"/>
            <a:ext cx="4498848" cy="1645920"/>
          </a:xfrm>
          <a:prstGeom prst="line">
            <a:avLst/>
          </a:prstGeom>
          <a:noFill/>
          <a:ln w="12700">
            <a:solidFill>
              <a:srgbClr val="C9B037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57200" y="438912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2A2A3E"/>
          </a:solidFill>
          <a:ln w="12700">
            <a:solidFill>
              <a:srgbClr val="C9B0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3891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  Negociação IA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99048" y="3200400"/>
            <a:ext cx="4462272" cy="1645920"/>
          </a:xfrm>
          <a:prstGeom prst="line">
            <a:avLst/>
          </a:prstGeom>
          <a:noFill/>
          <a:ln w="12700">
            <a:solidFill>
              <a:srgbClr val="C9B037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9418320" y="438912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2A2A3E"/>
          </a:solidFill>
          <a:ln w="12700">
            <a:solidFill>
              <a:srgbClr val="C9B0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0" y="43891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⌂  Family Office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 flipH="1">
            <a:off x="5870448" y="3200400"/>
            <a:ext cx="228600" cy="2560320"/>
          </a:xfrm>
          <a:prstGeom prst="line">
            <a:avLst/>
          </a:prstGeom>
          <a:noFill/>
          <a:ln w="12700">
            <a:solidFill>
              <a:srgbClr val="C9B037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727448" y="530352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2A2A3E"/>
          </a:solidFill>
          <a:ln w="12700">
            <a:solidFill>
              <a:srgbClr val="C9B0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27448" y="53035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❁  Alpha Intelligence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Twin do Comprador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2A2A3E"/>
          </a:solidFill>
          <a:ln w="19050">
            <a:solidFill>
              <a:srgbClr val="C9B0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91640"/>
            <a:ext cx="4937760" cy="54864"/>
          </a:xfrm>
          <a:prstGeom prst="rect">
            <a:avLst/>
          </a:prstGeom>
          <a:solidFill>
            <a:srgbClr val="C9B03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B037"/>
                </a:solidFill>
              </a:rPr>
              <a:t>☺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8745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faz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completo do cliente — 47 dimensões mapeadas automaticamente.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74904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2A2A3E"/>
          </a:solidFill>
          <a:ln w="19050">
            <a:solidFill>
              <a:srgbClr val="00A3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3794760"/>
            <a:ext cx="4937760" cy="54864"/>
          </a:xfrm>
          <a:prstGeom prst="rect">
            <a:avLst/>
          </a:prstGeom>
          <a:solidFill>
            <a:srgbClr val="00A3B5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A3B5"/>
                </a:solidFill>
              </a:rPr>
              <a:t>◎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80160" y="39776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Benefício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44805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Curadoria precisa — zero visitas desnecessárias.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645920"/>
            <a:ext cx="5303520" cy="3931920"/>
          </a:xfrm>
          <a:prstGeom prst="roundRect">
            <a:avLst>
              <a:gd name="adj" fmla="val 2326"/>
            </a:avLst>
          </a:prstGeom>
          <a:solidFill>
            <a:srgbClr val="2A2A3E"/>
          </a:solidFill>
          <a:ln w="12700">
            <a:solidFill>
              <a:srgbClr val="C9B0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9202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C9B037"/>
                </a:solidFill>
              </a:rPr>
              <a:t>☺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217920" y="28346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9B0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56%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6675120" y="374904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compradores dizem que encontrar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imóvel certo é o mais difícil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44805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 2025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Crystal Ball — IA Preditiva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2A2A3E"/>
          </a:solidFill>
          <a:ln w="19050">
            <a:solidFill>
              <a:srgbClr val="C9B0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91640"/>
            <a:ext cx="4937760" cy="54864"/>
          </a:xfrm>
          <a:prstGeom prst="rect">
            <a:avLst/>
          </a:prstGeom>
          <a:solidFill>
            <a:srgbClr val="C9B03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B037"/>
                </a:solidFill>
              </a:rPr>
              <a:t>✦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8745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faz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Prevê disponibilidade antes do mercado. Identifica oportunidades em 45-90 dias.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74904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2A2A3E"/>
          </a:solidFill>
          <a:ln w="19050">
            <a:solidFill>
              <a:srgbClr val="00A3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3794760"/>
            <a:ext cx="4937760" cy="54864"/>
          </a:xfrm>
          <a:prstGeom prst="rect">
            <a:avLst/>
          </a:prstGeom>
          <a:solidFill>
            <a:srgbClr val="00A3B5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A3B5"/>
                </a:solidFill>
              </a:rPr>
              <a:t>❖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80160" y="39776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Acesso off-market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44805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30% do luxo é off-market (Pacific Union/Redfin). Acesso antecipado = 10-17% melhor.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645920"/>
            <a:ext cx="5303520" cy="3931920"/>
          </a:xfrm>
          <a:prstGeom prst="roundRect">
            <a:avLst>
              <a:gd name="adj" fmla="val 2326"/>
            </a:avLst>
          </a:prstGeom>
          <a:solidFill>
            <a:srgbClr val="2A2A3E"/>
          </a:solidFill>
          <a:ln w="12700">
            <a:solidFill>
              <a:srgbClr val="00A3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9202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A3B5"/>
                </a:solidFill>
              </a:rPr>
              <a:t>✦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217920" y="28346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9B0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70-85%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6675120" y="37490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 preditiva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(conservador)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43891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Literatura acadêmica: 88-98% (MDPI 2024)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Motor de Negociação Inteligente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2A2A3E"/>
          </a:solidFill>
          <a:ln w="19050">
            <a:solidFill>
              <a:srgbClr val="C9B0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91640"/>
            <a:ext cx="4937760" cy="54864"/>
          </a:xfrm>
          <a:prstGeom prst="rect">
            <a:avLst/>
          </a:prstGeom>
          <a:solidFill>
            <a:srgbClr val="C9B03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B037"/>
                </a:solidFill>
              </a:rPr>
              <a:t>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8745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faz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 histórico, perfil do vendedor e mercado para otimizar ofertas.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74904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2A2A3E"/>
          </a:solidFill>
          <a:ln w="19050">
            <a:solidFill>
              <a:srgbClr val="C9B0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3794760"/>
            <a:ext cx="4937760" cy="54864"/>
          </a:xfrm>
          <a:prstGeom prst="rect">
            <a:avLst/>
          </a:prstGeom>
          <a:solidFill>
            <a:srgbClr val="C9B03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B037"/>
                </a:solidFill>
              </a:rPr>
              <a:t>❇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80160" y="39776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 comprovado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44805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média de 9-9,5% (Ridgestone UK 2025 / Black Brick London)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645920"/>
            <a:ext cx="5303520" cy="3931920"/>
          </a:xfrm>
          <a:prstGeom prst="roundRect">
            <a:avLst>
              <a:gd name="adj" fmla="val 2326"/>
            </a:avLst>
          </a:prstGeom>
          <a:solidFill>
            <a:srgbClr val="2A2A3E"/>
          </a:solidFill>
          <a:ln w="12700">
            <a:solidFill>
              <a:srgbClr val="C9B0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9202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C9B037"/>
                </a:solidFill>
              </a:rPr>
              <a:t>❇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217920" y="28346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9B0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9-10%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6675120" y="37490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média por transação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42062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R$10MM = R$900k-1MM de economia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Family Office + Alpha Intelligence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recorrente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212080" cy="3657600"/>
          </a:xfrm>
          <a:prstGeom prst="roundRect">
            <a:avLst>
              <a:gd name="adj" fmla="val 2500"/>
            </a:avLst>
          </a:prstGeom>
          <a:solidFill>
            <a:srgbClr val="2A2A3E"/>
          </a:solidFill>
          <a:ln w="19050">
            <a:solidFill>
              <a:srgbClr val="C9B0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945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B0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⌂  Family Office Imobiliário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portfólio: patrimônio,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manutenção, valorização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R$ 5-15k/mês por família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44805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transação única a cliente vitalício.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2011680"/>
            <a:ext cx="5212080" cy="3657600"/>
          </a:xfrm>
          <a:prstGeom prst="roundRect">
            <a:avLst>
              <a:gd name="adj" fmla="val 2500"/>
            </a:avLst>
          </a:prstGeom>
          <a:solidFill>
            <a:srgbClr val="2A2A3E"/>
          </a:solidFill>
          <a:ln w="19050">
            <a:solidFill>
              <a:srgbClr val="00A3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1945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3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❁  Alpha Intelligence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0" y="283464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de mercado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decisões de investimento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38404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B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R$ 5-20k/mês — Dashboard B2B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83680" y="44805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como serviço.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B037"/>
          </a:solidFill>
          <a:ln/>
        </p:spPr>
      </p:sp>
      <p:sp>
        <p:nvSpPr>
          <p:cNvPr id="3" name="Text 1"/>
          <p:cNvSpPr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B037"/>
                </a:solidFill>
              </a:rPr>
              <a:t>❖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112745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9B0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 meses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828800" y="1920240"/>
            <a:ext cx="8531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acumulativa — vantagem que não se compra depois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C9B037"/>
          </a:solidFill>
          <a:ln/>
        </p:spPr>
      </p:sp>
      <p:sp>
        <p:nvSpPr>
          <p:cNvPr id="8" name="Shape 6"/>
          <p:cNvSpPr/>
          <p:nvPr/>
        </p:nvSpPr>
        <p:spPr>
          <a:xfrm>
            <a:off x="1920240" y="3218688"/>
            <a:ext cx="365760" cy="365760"/>
          </a:xfrm>
          <a:prstGeom prst="ellipse">
            <a:avLst/>
          </a:prstGeom>
          <a:solidFill>
            <a:srgbClr val="C9B037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743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B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37490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+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dados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3218688"/>
            <a:ext cx="365760" cy="365760"/>
          </a:xfrm>
          <a:prstGeom prst="ellipse">
            <a:avLst/>
          </a:prstGeom>
          <a:solidFill>
            <a:srgbClr val="C9B037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0" y="2743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B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6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0" y="37490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treinado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40880" y="3218688"/>
            <a:ext cx="365760" cy="365760"/>
          </a:xfrm>
          <a:prstGeom prst="ellipse">
            <a:avLst/>
          </a:prstGeom>
          <a:solidFill>
            <a:srgbClr val="C9B037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2743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B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12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37490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 Ball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calibrado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601200" y="3218688"/>
            <a:ext cx="365760" cy="365760"/>
          </a:xfrm>
          <a:prstGeom prst="ellipse">
            <a:avLst/>
          </a:prstGeom>
          <a:solidFill>
            <a:srgbClr val="C9B037"/>
          </a:solidFill>
          <a:ln/>
        </p:spPr>
      </p:sp>
      <p:sp>
        <p:nvSpPr>
          <p:cNvPr id="18" name="Text 16"/>
          <p:cNvSpPr/>
          <p:nvPr/>
        </p:nvSpPr>
        <p:spPr>
          <a:xfrm>
            <a:off x="9052560" y="2743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B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18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61120" y="37490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828800" y="5029200"/>
            <a:ext cx="8531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imobiliária cresce 42%/ano vs. 24% proptech convencional (PitchBook/CRETI 2025)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◎  Mercado Endereçável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78808" y="1737360"/>
            <a:ext cx="3840480" cy="3840480"/>
          </a:xfrm>
          <a:prstGeom prst="ellipse">
            <a:avLst/>
          </a:prstGeom>
          <a:solidFill>
            <a:srgbClr val="2A2A3E">
              <a:alpha val="60000"/>
            </a:srgbClr>
          </a:solidFill>
          <a:ln w="19050">
            <a:solidFill>
              <a:srgbClr val="C9B0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18888" y="2377440"/>
            <a:ext cx="2560320" cy="2560320"/>
          </a:xfrm>
          <a:prstGeom prst="ellipse">
            <a:avLst/>
          </a:prstGeom>
          <a:solidFill>
            <a:srgbClr val="333350">
              <a:alpha val="60000"/>
            </a:srgbClr>
          </a:solidFill>
          <a:ln w="19050">
            <a:solidFill>
              <a:srgbClr val="00A3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13248" y="2971800"/>
            <a:ext cx="1371600" cy="1371600"/>
          </a:xfrm>
          <a:prstGeom prst="ellipse">
            <a:avLst/>
          </a:prstGeom>
          <a:solidFill>
            <a:srgbClr val="3D3D58">
              <a:alpha val="60000"/>
            </a:srgbClr>
          </a:solidFill>
          <a:ln w="19050">
            <a:solidFill>
              <a:srgbClr val="C9B0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0" y="16459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B037"/>
                </a:solidFill>
              </a:rPr>
              <a:t>TAM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R$ 28,8 Bi
</a:t>
            </a:r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Mercado RJ 9 meses (ABRAINC)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0" y="29260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3B5"/>
                </a:solidFill>
              </a:rPr>
              <a:t>SAM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R$ 1,6 Bi
</a:t>
            </a:r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Barra luxo 1º quad (ABRAINC)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0" y="420624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B037"/>
                </a:solidFill>
              </a:rPr>
              <a:t>SOM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 condomínios
</a:t>
            </a:r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Mansões, Península, Malibu, Golf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de Receita — 4 Fontes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2A2A3E"/>
          </a:solidFill>
          <a:ln w="19050">
            <a:solidFill>
              <a:srgbClr val="C9B0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148840"/>
            <a:ext cx="5120640" cy="54864"/>
          </a:xfrm>
          <a:prstGeom prst="rect">
            <a:avLst/>
          </a:prstGeom>
          <a:solidFill>
            <a:srgbClr val="C9B03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B037"/>
                </a:solidFill>
              </a:rPr>
              <a:t>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233172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Buyer's Fee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3-5% success fee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R$ 150-500k/transação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210312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2A2A3E"/>
          </a:solidFill>
          <a:ln w="19050">
            <a:solidFill>
              <a:srgbClr val="00A3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2148840"/>
            <a:ext cx="5120640" cy="54864"/>
          </a:xfrm>
          <a:prstGeom prst="rect">
            <a:avLst/>
          </a:prstGeom>
          <a:solidFill>
            <a:srgbClr val="00A3B5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A3B5"/>
                </a:solidFill>
              </a:rPr>
              <a:t>⌂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949440" y="233172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Family Office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28346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 R$ 5-15k/mês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2A2A3E"/>
          </a:solidFill>
          <a:ln w="19050">
            <a:solidFill>
              <a:srgbClr val="00A3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4343400"/>
            <a:ext cx="5120640" cy="54864"/>
          </a:xfrm>
          <a:prstGeom prst="rect">
            <a:avLst/>
          </a:prstGeom>
          <a:solidFill>
            <a:srgbClr val="00A3B5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A3B5"/>
                </a:solidFill>
              </a:rPr>
              <a:t>❁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80160" y="452628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Alpha Intelligence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502920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B2B R$ 5-20k/mês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429768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2A2A3E"/>
          </a:solidFill>
          <a:ln w="19050">
            <a:solidFill>
              <a:srgbClr val="C9B03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4343400"/>
            <a:ext cx="5120640" cy="54864"/>
          </a:xfrm>
          <a:prstGeom prst="rect">
            <a:avLst/>
          </a:prstGeom>
          <a:solidFill>
            <a:srgbClr val="C9B037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B037"/>
                </a:solidFill>
              </a:rPr>
              <a:t>★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49440" y="452628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Repositioning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502920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R$ 30-100k + 20% ágio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Economics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2A2A3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/ CAC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0" y="16459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B0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5-8x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583680" y="16459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setor: 3-4x (Phoenix Strategy Group 2025)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8346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Payback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0" y="28346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3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~14 meses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83680" y="28346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cenário base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2A2A3E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0233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Recorrente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40233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B0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583680" y="402336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Office + Alpha Intelligence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21208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A1A2E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21208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Buyers (luxo)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14800" y="52120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3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583680" y="521208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dependência de crédito (Sotheby's 2025)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Investimento global em proptech: US$ 16,7 bi em 2025 (+68% YoY — CRETI)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Projeção Financeira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22960" y="4846320"/>
            <a:ext cx="10515600" cy="18288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4892040"/>
            <a:ext cx="492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452880" y="4892040"/>
            <a:ext cx="492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37080" y="4579620"/>
            <a:ext cx="492760" cy="266700"/>
          </a:xfrm>
          <a:prstGeom prst="rect">
            <a:avLst/>
          </a:prstGeom>
          <a:solidFill>
            <a:srgbClr val="00A3B5"/>
          </a:solidFill>
          <a:ln/>
        </p:spPr>
      </p:sp>
      <p:sp>
        <p:nvSpPr>
          <p:cNvPr id="8" name="Text 6"/>
          <p:cNvSpPr/>
          <p:nvPr/>
        </p:nvSpPr>
        <p:spPr>
          <a:xfrm>
            <a:off x="2037080" y="4892040"/>
            <a:ext cx="492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21280" y="4401820"/>
            <a:ext cx="492760" cy="444500"/>
          </a:xfrm>
          <a:prstGeom prst="rect">
            <a:avLst/>
          </a:prstGeom>
          <a:solidFill>
            <a:srgbClr val="00A3B5"/>
          </a:solidFill>
          <a:ln/>
        </p:spPr>
      </p:sp>
      <p:sp>
        <p:nvSpPr>
          <p:cNvPr id="10" name="Text 8"/>
          <p:cNvSpPr/>
          <p:nvPr/>
        </p:nvSpPr>
        <p:spPr>
          <a:xfrm>
            <a:off x="2621280" y="4892040"/>
            <a:ext cx="492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5480" y="4224020"/>
            <a:ext cx="492760" cy="622300"/>
          </a:xfrm>
          <a:prstGeom prst="rect">
            <a:avLst/>
          </a:prstGeom>
          <a:solidFill>
            <a:srgbClr val="00A3B5"/>
          </a:solidFill>
          <a:ln/>
        </p:spPr>
      </p:sp>
      <p:sp>
        <p:nvSpPr>
          <p:cNvPr id="12" name="Text 10"/>
          <p:cNvSpPr/>
          <p:nvPr/>
        </p:nvSpPr>
        <p:spPr>
          <a:xfrm>
            <a:off x="3205480" y="4892040"/>
            <a:ext cx="492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89680" y="3957320"/>
            <a:ext cx="492760" cy="889000"/>
          </a:xfrm>
          <a:prstGeom prst="rect">
            <a:avLst/>
          </a:prstGeom>
          <a:solidFill>
            <a:srgbClr val="00A3B5"/>
          </a:solidFill>
          <a:ln/>
        </p:spPr>
      </p:sp>
      <p:sp>
        <p:nvSpPr>
          <p:cNvPr id="14" name="Text 12"/>
          <p:cNvSpPr/>
          <p:nvPr/>
        </p:nvSpPr>
        <p:spPr>
          <a:xfrm>
            <a:off x="3789680" y="4892040"/>
            <a:ext cx="492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373880" y="3868420"/>
            <a:ext cx="492760" cy="977900"/>
          </a:xfrm>
          <a:prstGeom prst="rect">
            <a:avLst/>
          </a:prstGeom>
          <a:solidFill>
            <a:srgbClr val="00A3B5"/>
          </a:solidFill>
          <a:ln/>
        </p:spPr>
      </p:sp>
      <p:sp>
        <p:nvSpPr>
          <p:cNvPr id="16" name="Text 14"/>
          <p:cNvSpPr/>
          <p:nvPr/>
        </p:nvSpPr>
        <p:spPr>
          <a:xfrm>
            <a:off x="4373880" y="4892040"/>
            <a:ext cx="492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58080" y="3690620"/>
            <a:ext cx="492760" cy="1155700"/>
          </a:xfrm>
          <a:prstGeom prst="rect">
            <a:avLst/>
          </a:prstGeom>
          <a:solidFill>
            <a:srgbClr val="00A3B5"/>
          </a:solidFill>
          <a:ln/>
        </p:spPr>
      </p:sp>
      <p:sp>
        <p:nvSpPr>
          <p:cNvPr id="18" name="Text 16"/>
          <p:cNvSpPr/>
          <p:nvPr/>
        </p:nvSpPr>
        <p:spPr>
          <a:xfrm>
            <a:off x="4958080" y="4892040"/>
            <a:ext cx="492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42280" y="3512820"/>
            <a:ext cx="492760" cy="1333500"/>
          </a:xfrm>
          <a:prstGeom prst="rect">
            <a:avLst/>
          </a:prstGeom>
          <a:solidFill>
            <a:srgbClr val="00A3B5"/>
          </a:solidFill>
          <a:ln/>
        </p:spPr>
      </p:sp>
      <p:sp>
        <p:nvSpPr>
          <p:cNvPr id="20" name="Text 18"/>
          <p:cNvSpPr/>
          <p:nvPr/>
        </p:nvSpPr>
        <p:spPr>
          <a:xfrm>
            <a:off x="5542280" y="4892040"/>
            <a:ext cx="492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26480" y="3423920"/>
            <a:ext cx="492760" cy="1422400"/>
          </a:xfrm>
          <a:prstGeom prst="rect">
            <a:avLst/>
          </a:prstGeom>
          <a:solidFill>
            <a:srgbClr val="00A3B5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4892040"/>
            <a:ext cx="492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10680" y="3335020"/>
            <a:ext cx="492760" cy="1511300"/>
          </a:xfrm>
          <a:prstGeom prst="rect">
            <a:avLst/>
          </a:prstGeom>
          <a:solidFill>
            <a:srgbClr val="00A3B5"/>
          </a:solidFill>
          <a:ln/>
        </p:spPr>
      </p:sp>
      <p:sp>
        <p:nvSpPr>
          <p:cNvPr id="24" name="Text 22"/>
          <p:cNvSpPr/>
          <p:nvPr/>
        </p:nvSpPr>
        <p:spPr>
          <a:xfrm>
            <a:off x="6710680" y="4892040"/>
            <a:ext cx="492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294880" y="3157220"/>
            <a:ext cx="492760" cy="1689100"/>
          </a:xfrm>
          <a:prstGeom prst="rect">
            <a:avLst/>
          </a:prstGeom>
          <a:solidFill>
            <a:srgbClr val="00A3B5"/>
          </a:solidFill>
          <a:ln/>
        </p:spPr>
      </p:sp>
      <p:sp>
        <p:nvSpPr>
          <p:cNvPr id="26" name="Text 24"/>
          <p:cNvSpPr/>
          <p:nvPr/>
        </p:nvSpPr>
        <p:spPr>
          <a:xfrm>
            <a:off x="7294880" y="4892040"/>
            <a:ext cx="492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879080" y="3068320"/>
            <a:ext cx="492760" cy="1778000"/>
          </a:xfrm>
          <a:prstGeom prst="rect">
            <a:avLst/>
          </a:prstGeom>
          <a:solidFill>
            <a:srgbClr val="C9B037"/>
          </a:solidFill>
          <a:ln/>
        </p:spPr>
      </p:sp>
      <p:sp>
        <p:nvSpPr>
          <p:cNvPr id="28" name="Text 26"/>
          <p:cNvSpPr/>
          <p:nvPr/>
        </p:nvSpPr>
        <p:spPr>
          <a:xfrm>
            <a:off x="7879080" y="4892040"/>
            <a:ext cx="492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463280" y="2890520"/>
            <a:ext cx="492760" cy="1955800"/>
          </a:xfrm>
          <a:prstGeom prst="rect">
            <a:avLst/>
          </a:prstGeom>
          <a:solidFill>
            <a:srgbClr val="C9B037"/>
          </a:solidFill>
          <a:ln/>
        </p:spPr>
      </p:sp>
      <p:sp>
        <p:nvSpPr>
          <p:cNvPr id="30" name="Text 28"/>
          <p:cNvSpPr/>
          <p:nvPr/>
        </p:nvSpPr>
        <p:spPr>
          <a:xfrm>
            <a:off x="8463280" y="4892040"/>
            <a:ext cx="492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047480" y="2712720"/>
            <a:ext cx="492760" cy="2133600"/>
          </a:xfrm>
          <a:prstGeom prst="rect">
            <a:avLst/>
          </a:prstGeom>
          <a:solidFill>
            <a:srgbClr val="C9B037"/>
          </a:solidFill>
          <a:ln/>
        </p:spPr>
      </p:sp>
      <p:sp>
        <p:nvSpPr>
          <p:cNvPr id="32" name="Text 30"/>
          <p:cNvSpPr/>
          <p:nvPr/>
        </p:nvSpPr>
        <p:spPr>
          <a:xfrm>
            <a:off x="9047480" y="4892040"/>
            <a:ext cx="492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631680" y="2446020"/>
            <a:ext cx="492760" cy="2400300"/>
          </a:xfrm>
          <a:prstGeom prst="rect">
            <a:avLst/>
          </a:prstGeom>
          <a:solidFill>
            <a:srgbClr val="C9B037"/>
          </a:solidFill>
          <a:ln/>
        </p:spPr>
      </p:sp>
      <p:sp>
        <p:nvSpPr>
          <p:cNvPr id="34" name="Text 32"/>
          <p:cNvSpPr/>
          <p:nvPr/>
        </p:nvSpPr>
        <p:spPr>
          <a:xfrm>
            <a:off x="9631680" y="4892040"/>
            <a:ext cx="492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0215880" y="2179320"/>
            <a:ext cx="492760" cy="2667000"/>
          </a:xfrm>
          <a:prstGeom prst="rect">
            <a:avLst/>
          </a:prstGeom>
          <a:solidFill>
            <a:srgbClr val="C9B037"/>
          </a:solidFill>
          <a:ln/>
        </p:spPr>
      </p:sp>
      <p:sp>
        <p:nvSpPr>
          <p:cNvPr id="36" name="Text 34"/>
          <p:cNvSpPr/>
          <p:nvPr/>
        </p:nvSpPr>
        <p:spPr>
          <a:xfrm>
            <a:off x="10215880" y="4892040"/>
            <a:ext cx="492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800080" y="1823720"/>
            <a:ext cx="492760" cy="3022600"/>
          </a:xfrm>
          <a:prstGeom prst="rect">
            <a:avLst/>
          </a:prstGeom>
          <a:solidFill>
            <a:srgbClr val="C9B037"/>
          </a:solidFill>
          <a:ln/>
        </p:spPr>
      </p:sp>
      <p:sp>
        <p:nvSpPr>
          <p:cNvPr id="38" name="Text 36"/>
          <p:cNvSpPr/>
          <p:nvPr/>
        </p:nvSpPr>
        <p:spPr>
          <a:xfrm>
            <a:off x="10800080" y="4892040"/>
            <a:ext cx="492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5800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B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Break-even: mês 14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22960" y="5120640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2A2A3E"/>
          </a:solidFill>
          <a:ln w="12700">
            <a:solidFill>
              <a:srgbClr val="C9B03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5840" y="51206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B0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3-4x</a:t>
            </a:r>
            <a:endParaRPr lang="en-US" sz="3200" dirty="0"/>
          </a:p>
        </p:txBody>
      </p:sp>
      <p:sp>
        <p:nvSpPr>
          <p:cNvPr id="42" name="Text 40"/>
          <p:cNvSpPr/>
          <p:nvPr/>
        </p:nvSpPr>
        <p:spPr>
          <a:xfrm>
            <a:off x="2834640" y="51206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Ano 1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cenário base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309360" y="5120640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2A2A3E"/>
          </a:solidFill>
          <a:ln w="12700">
            <a:solidFill>
              <a:srgbClr val="C9B03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92240" y="51206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B0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7x+</a:t>
            </a:r>
            <a:endParaRPr lang="en-US" sz="3200" dirty="0"/>
          </a:p>
        </p:txBody>
      </p:sp>
      <p:sp>
        <p:nvSpPr>
          <p:cNvPr id="45" name="Text 43"/>
          <p:cNvSpPr/>
          <p:nvPr/>
        </p:nvSpPr>
        <p:spPr>
          <a:xfrm>
            <a:off x="8321040" y="51206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Ano 2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com recorrência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3-5 corretores, ticket R$7MM, 12 transações/ano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Cenário Competitivo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3200400" cy="59436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023360" y="1645920"/>
            <a:ext cx="1828800" cy="594360"/>
          </a:xfrm>
          <a:prstGeom prst="rect">
            <a:avLst/>
          </a:prstGeom>
          <a:solidFill>
            <a:srgbClr val="C9B037"/>
          </a:solidFill>
          <a:ln/>
        </p:spPr>
      </p:sp>
      <p:sp>
        <p:nvSpPr>
          <p:cNvPr id="7" name="Text 5"/>
          <p:cNvSpPr/>
          <p:nvPr/>
        </p:nvSpPr>
        <p:spPr>
          <a:xfrm>
            <a:off x="4023360" y="16459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52160" y="1645920"/>
            <a:ext cx="1828800" cy="59436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0" y="16459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MySide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0" y="1645920"/>
            <a:ext cx="1828800" cy="59436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0" y="16459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Matchpoint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509760" y="1645920"/>
            <a:ext cx="1828800" cy="59436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13" name="Text 11"/>
          <p:cNvSpPr/>
          <p:nvPr/>
        </p:nvSpPr>
        <p:spPr>
          <a:xfrm>
            <a:off x="9509760" y="16459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Brick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2240280"/>
            <a:ext cx="3200400" cy="594360"/>
          </a:xfrm>
          <a:prstGeom prst="rect">
            <a:avLst/>
          </a:prstGeom>
          <a:solidFill>
            <a:srgbClr val="2A2A3E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2402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Preditiva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023360" y="2240280"/>
            <a:ext cx="1828800" cy="594360"/>
          </a:xfrm>
          <a:prstGeom prst="rect">
            <a:avLst/>
          </a:prstGeom>
          <a:solidFill>
            <a:srgbClr val="2A3A2A"/>
          </a:solidFill>
          <a:ln/>
        </p:spPr>
      </p:sp>
      <p:sp>
        <p:nvSpPr>
          <p:cNvPr id="17" name="Text 15"/>
          <p:cNvSpPr/>
          <p:nvPr/>
        </p:nvSpPr>
        <p:spPr>
          <a:xfrm>
            <a:off x="4023360" y="22402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B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852160" y="2240280"/>
            <a:ext cx="1828800" cy="594360"/>
          </a:xfrm>
          <a:prstGeom prst="rect">
            <a:avLst/>
          </a:prstGeom>
          <a:solidFill>
            <a:srgbClr val="2A2A3E"/>
          </a:solidFill>
          <a:ln/>
        </p:spPr>
      </p:sp>
      <p:sp>
        <p:nvSpPr>
          <p:cNvPr id="19" name="Text 17"/>
          <p:cNvSpPr/>
          <p:nvPr/>
        </p:nvSpPr>
        <p:spPr>
          <a:xfrm>
            <a:off x="5852160" y="22402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680960" y="2240280"/>
            <a:ext cx="1828800" cy="594360"/>
          </a:xfrm>
          <a:prstGeom prst="rect">
            <a:avLst/>
          </a:prstGeom>
          <a:solidFill>
            <a:srgbClr val="2A2A3E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0" y="22402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509760" y="2240280"/>
            <a:ext cx="1828800" cy="594360"/>
          </a:xfrm>
          <a:prstGeom prst="rect">
            <a:avLst/>
          </a:prstGeom>
          <a:solidFill>
            <a:srgbClr val="2A2A3E"/>
          </a:solidFill>
          <a:ln/>
        </p:spPr>
      </p:sp>
      <p:sp>
        <p:nvSpPr>
          <p:cNvPr id="23" name="Text 21"/>
          <p:cNvSpPr/>
          <p:nvPr/>
        </p:nvSpPr>
        <p:spPr>
          <a:xfrm>
            <a:off x="9509760" y="22402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22960" y="2834640"/>
            <a:ext cx="3200400" cy="5943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28346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023360" y="2834640"/>
            <a:ext cx="1828800" cy="594360"/>
          </a:xfrm>
          <a:prstGeom prst="rect">
            <a:avLst/>
          </a:prstGeom>
          <a:solidFill>
            <a:srgbClr val="2A3A2A"/>
          </a:solidFill>
          <a:ln/>
        </p:spPr>
      </p:sp>
      <p:sp>
        <p:nvSpPr>
          <p:cNvPr id="27" name="Text 25"/>
          <p:cNvSpPr/>
          <p:nvPr/>
        </p:nvSpPr>
        <p:spPr>
          <a:xfrm>
            <a:off x="4023360" y="28346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B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852160" y="2834640"/>
            <a:ext cx="1828800" cy="5943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9" name="Text 27"/>
          <p:cNvSpPr/>
          <p:nvPr/>
        </p:nvSpPr>
        <p:spPr>
          <a:xfrm>
            <a:off x="5852160" y="28346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680960" y="2834640"/>
            <a:ext cx="1828800" cy="5943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1" name="Text 29"/>
          <p:cNvSpPr/>
          <p:nvPr/>
        </p:nvSpPr>
        <p:spPr>
          <a:xfrm>
            <a:off x="7680960" y="28346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509760" y="2834640"/>
            <a:ext cx="1828800" cy="5943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3" name="Text 31"/>
          <p:cNvSpPr/>
          <p:nvPr/>
        </p:nvSpPr>
        <p:spPr>
          <a:xfrm>
            <a:off x="9509760" y="28346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822960" y="3429000"/>
            <a:ext cx="3200400" cy="594360"/>
          </a:xfrm>
          <a:prstGeom prst="rect">
            <a:avLst/>
          </a:prstGeom>
          <a:solidFill>
            <a:srgbClr val="2A2A3E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34290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Recorrente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023360" y="3429000"/>
            <a:ext cx="1828800" cy="594360"/>
          </a:xfrm>
          <a:prstGeom prst="rect">
            <a:avLst/>
          </a:prstGeom>
          <a:solidFill>
            <a:srgbClr val="2A3A2A"/>
          </a:solidFill>
          <a:ln/>
        </p:spPr>
      </p:sp>
      <p:sp>
        <p:nvSpPr>
          <p:cNvPr id="37" name="Text 35"/>
          <p:cNvSpPr/>
          <p:nvPr/>
        </p:nvSpPr>
        <p:spPr>
          <a:xfrm>
            <a:off x="4023360" y="34290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B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5852160" y="3429000"/>
            <a:ext cx="1828800" cy="594360"/>
          </a:xfrm>
          <a:prstGeom prst="rect">
            <a:avLst/>
          </a:prstGeom>
          <a:solidFill>
            <a:srgbClr val="2A2A3E"/>
          </a:solidFill>
          <a:ln/>
        </p:spPr>
      </p:sp>
      <p:sp>
        <p:nvSpPr>
          <p:cNvPr id="39" name="Text 37"/>
          <p:cNvSpPr/>
          <p:nvPr/>
        </p:nvSpPr>
        <p:spPr>
          <a:xfrm>
            <a:off x="5852160" y="34290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7680960" y="3429000"/>
            <a:ext cx="1828800" cy="594360"/>
          </a:xfrm>
          <a:prstGeom prst="rect">
            <a:avLst/>
          </a:prstGeom>
          <a:solidFill>
            <a:srgbClr val="2A2A3E"/>
          </a:solidFill>
          <a:ln/>
        </p:spPr>
      </p:sp>
      <p:sp>
        <p:nvSpPr>
          <p:cNvPr id="41" name="Text 39"/>
          <p:cNvSpPr/>
          <p:nvPr/>
        </p:nvSpPr>
        <p:spPr>
          <a:xfrm>
            <a:off x="7680960" y="34290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B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9509760" y="3429000"/>
            <a:ext cx="1828800" cy="594360"/>
          </a:xfrm>
          <a:prstGeom prst="rect">
            <a:avLst/>
          </a:prstGeom>
          <a:solidFill>
            <a:srgbClr val="2A2A3E"/>
          </a:solidFill>
          <a:ln/>
        </p:spPr>
      </p:sp>
      <p:sp>
        <p:nvSpPr>
          <p:cNvPr id="43" name="Text 41"/>
          <p:cNvSpPr/>
          <p:nvPr/>
        </p:nvSpPr>
        <p:spPr>
          <a:xfrm>
            <a:off x="9509760" y="34290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822960" y="4023360"/>
            <a:ext cx="3200400" cy="5943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40233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Off-Market Access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023360" y="4023360"/>
            <a:ext cx="1828800" cy="594360"/>
          </a:xfrm>
          <a:prstGeom prst="rect">
            <a:avLst/>
          </a:prstGeom>
          <a:solidFill>
            <a:srgbClr val="2A3A2A"/>
          </a:solidFill>
          <a:ln/>
        </p:spPr>
      </p:sp>
      <p:sp>
        <p:nvSpPr>
          <p:cNvPr id="47" name="Text 45"/>
          <p:cNvSpPr/>
          <p:nvPr/>
        </p:nvSpPr>
        <p:spPr>
          <a:xfrm>
            <a:off x="4023360" y="40233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B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5852160" y="4023360"/>
            <a:ext cx="1828800" cy="5943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9" name="Text 47"/>
          <p:cNvSpPr/>
          <p:nvPr/>
        </p:nvSpPr>
        <p:spPr>
          <a:xfrm>
            <a:off x="5852160" y="40233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7680960" y="4023360"/>
            <a:ext cx="1828800" cy="5943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1" name="Text 49"/>
          <p:cNvSpPr/>
          <p:nvPr/>
        </p:nvSpPr>
        <p:spPr>
          <a:xfrm>
            <a:off x="7680960" y="40233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9509760" y="4023360"/>
            <a:ext cx="1828800" cy="5943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3" name="Text 51"/>
          <p:cNvSpPr/>
          <p:nvPr/>
        </p:nvSpPr>
        <p:spPr>
          <a:xfrm>
            <a:off x="9509760" y="40233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B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822960" y="4617720"/>
            <a:ext cx="3200400" cy="594360"/>
          </a:xfrm>
          <a:prstGeom prst="rect">
            <a:avLst/>
          </a:prstGeom>
          <a:solidFill>
            <a:srgbClr val="2A2A3E"/>
          </a:solidFill>
          <a:ln/>
        </p:spPr>
      </p:sp>
      <p:sp>
        <p:nvSpPr>
          <p:cNvPr id="55" name="Text 53"/>
          <p:cNvSpPr/>
          <p:nvPr/>
        </p:nvSpPr>
        <p:spPr>
          <a:xfrm>
            <a:off x="822960" y="46177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Buyer-Side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023360" y="4617720"/>
            <a:ext cx="1828800" cy="594360"/>
          </a:xfrm>
          <a:prstGeom prst="rect">
            <a:avLst/>
          </a:prstGeom>
          <a:solidFill>
            <a:srgbClr val="2A3A2A"/>
          </a:solidFill>
          <a:ln/>
        </p:spPr>
      </p:sp>
      <p:sp>
        <p:nvSpPr>
          <p:cNvPr id="57" name="Text 55"/>
          <p:cNvSpPr/>
          <p:nvPr/>
        </p:nvSpPr>
        <p:spPr>
          <a:xfrm>
            <a:off x="4023360" y="46177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B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5852160" y="4617720"/>
            <a:ext cx="1828800" cy="594360"/>
          </a:xfrm>
          <a:prstGeom prst="rect">
            <a:avLst/>
          </a:prstGeom>
          <a:solidFill>
            <a:srgbClr val="2A2A3E"/>
          </a:solidFill>
          <a:ln/>
        </p:spPr>
      </p:sp>
      <p:sp>
        <p:nvSpPr>
          <p:cNvPr id="59" name="Text 57"/>
          <p:cNvSpPr/>
          <p:nvPr/>
        </p:nvSpPr>
        <p:spPr>
          <a:xfrm>
            <a:off x="5852160" y="46177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B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7680960" y="4617720"/>
            <a:ext cx="1828800" cy="594360"/>
          </a:xfrm>
          <a:prstGeom prst="rect">
            <a:avLst/>
          </a:prstGeom>
          <a:solidFill>
            <a:srgbClr val="2A2A3E"/>
          </a:solidFill>
          <a:ln/>
        </p:spPr>
      </p:sp>
      <p:sp>
        <p:nvSpPr>
          <p:cNvPr id="61" name="Text 59"/>
          <p:cNvSpPr/>
          <p:nvPr/>
        </p:nvSpPr>
        <p:spPr>
          <a:xfrm>
            <a:off x="7680960" y="46177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9509760" y="4617720"/>
            <a:ext cx="1828800" cy="594360"/>
          </a:xfrm>
          <a:prstGeom prst="rect">
            <a:avLst/>
          </a:prstGeom>
          <a:solidFill>
            <a:srgbClr val="2A2A3E"/>
          </a:solidFill>
          <a:ln/>
        </p:spPr>
      </p:sp>
      <p:sp>
        <p:nvSpPr>
          <p:cNvPr id="63" name="Text 61"/>
          <p:cNvSpPr/>
          <p:nvPr/>
        </p:nvSpPr>
        <p:spPr>
          <a:xfrm>
            <a:off x="9509760" y="46177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B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822960" y="5212080"/>
            <a:ext cx="3200400" cy="5943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5" name="Text 63"/>
          <p:cNvSpPr/>
          <p:nvPr/>
        </p:nvSpPr>
        <p:spPr>
          <a:xfrm>
            <a:off x="822960" y="52120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BR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4023360" y="5212080"/>
            <a:ext cx="1828800" cy="594360"/>
          </a:xfrm>
          <a:prstGeom prst="rect">
            <a:avLst/>
          </a:prstGeom>
          <a:solidFill>
            <a:srgbClr val="2A3A2A"/>
          </a:solidFill>
          <a:ln/>
        </p:spPr>
      </p:sp>
      <p:sp>
        <p:nvSpPr>
          <p:cNvPr id="67" name="Text 65"/>
          <p:cNvSpPr/>
          <p:nvPr/>
        </p:nvSpPr>
        <p:spPr>
          <a:xfrm>
            <a:off x="4023360" y="52120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B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5852160" y="5212080"/>
            <a:ext cx="1828800" cy="5943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9" name="Text 67"/>
          <p:cNvSpPr/>
          <p:nvPr/>
        </p:nvSpPr>
        <p:spPr>
          <a:xfrm>
            <a:off x="5852160" y="52120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B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7680960" y="5212080"/>
            <a:ext cx="1828800" cy="5943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1" name="Text 69"/>
          <p:cNvSpPr/>
          <p:nvPr/>
        </p:nvSpPr>
        <p:spPr>
          <a:xfrm>
            <a:off x="7680960" y="52120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B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9509760" y="5212080"/>
            <a:ext cx="1828800" cy="5943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3" name="Text 71"/>
          <p:cNvSpPr/>
          <p:nvPr/>
        </p:nvSpPr>
        <p:spPr>
          <a:xfrm>
            <a:off x="9509760" y="52120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Cenário — Família Executiva, Península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97280" y="3200400"/>
            <a:ext cx="9966960" cy="36576"/>
          </a:xfrm>
          <a:prstGeom prst="rect">
            <a:avLst/>
          </a:prstGeom>
          <a:solidFill>
            <a:srgbClr val="C9B037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0" y="3017520"/>
            <a:ext cx="457200" cy="457200"/>
          </a:xfrm>
          <a:prstGeom prst="ellipse">
            <a:avLst/>
          </a:prstGeom>
          <a:solidFill>
            <a:srgbClr val="C9B037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0D0D"/>
                </a:solidFill>
              </a:rPr>
              <a:t>☺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2560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3657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mapeado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3017520"/>
            <a:ext cx="457200" cy="457200"/>
          </a:xfrm>
          <a:prstGeom prst="ellipse">
            <a:avLst/>
          </a:prstGeom>
          <a:solidFill>
            <a:srgbClr val="C9B037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0D0D"/>
                </a:solidFill>
              </a:rPr>
              <a:t>✦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0" y="2560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 Ball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3657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detectada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0" y="3017520"/>
            <a:ext cx="457200" cy="457200"/>
          </a:xfrm>
          <a:prstGeom prst="ellipse">
            <a:avLst/>
          </a:prstGeom>
          <a:solidFill>
            <a:srgbClr val="C9B037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0D0D"/>
                </a:solidFill>
              </a:rPr>
              <a:t>♠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2560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Negociação IA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0" y="3657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otimizada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058400" y="3017520"/>
            <a:ext cx="457200" cy="457200"/>
          </a:xfrm>
          <a:prstGeom prst="ellipse">
            <a:avLst/>
          </a:prstGeom>
          <a:solidFill>
            <a:srgbClr val="C9B037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0D0D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2688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0" y="2560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326880" y="3657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 economia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828800" y="4389120"/>
            <a:ext cx="8531352" cy="1463040"/>
          </a:xfrm>
          <a:prstGeom prst="roundRect">
            <a:avLst>
              <a:gd name="adj" fmla="val 6250"/>
            </a:avLst>
          </a:prstGeom>
          <a:solidFill>
            <a:srgbClr val="2A2A3E"/>
          </a:solidFill>
          <a:ln w="19050">
            <a:solidFill>
              <a:srgbClr val="C9B0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11680" y="44805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B0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R$ 9,5MM → R$ 8,6MM (-9,5%)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011680" y="5029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R$ 900k economia | 6 semanas vs. 4+ meses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0" y="5029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ilustrativo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Cenário — Investidor, Golf Olímpico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12080" cy="3474720"/>
          </a:xfrm>
          <a:prstGeom prst="roundRect">
            <a:avLst>
              <a:gd name="adj" fmla="val 2632"/>
            </a:avLst>
          </a:prstGeom>
          <a:solidFill>
            <a:srgbClr val="2A2A3E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031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TRADICIONAL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42976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66666"/>
                </a:solidFill>
              </a:rPr>
              <a:t>✗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8-12 unidades em portais
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66666"/>
                </a:solidFill>
              </a:rPr>
              <a:t>✗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4 meses de busca
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66666"/>
                </a:solidFill>
              </a:rPr>
              <a:t>✗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Asking price: R$ 15 MM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2011680"/>
            <a:ext cx="5212080" cy="3474720"/>
          </a:xfrm>
          <a:prstGeom prst="roundRect">
            <a:avLst>
              <a:gd name="adj" fmla="val 2632"/>
            </a:avLst>
          </a:prstGeom>
          <a:solidFill>
            <a:srgbClr val="2A2A3E"/>
          </a:solidFill>
          <a:ln w="25400">
            <a:solidFill>
              <a:srgbClr val="C9B0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21031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B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BPR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66560" y="2743200"/>
            <a:ext cx="42976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9B037"/>
                </a:solidFill>
              </a:rPr>
              <a:t>✓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Shortlist 5 imóveis por score
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9B037"/>
                </a:solidFill>
              </a:rPr>
              <a:t>✓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6 semanas
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9B037"/>
                </a:solidFill>
              </a:rPr>
              <a:t>✓ 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9B037"/>
                </a:solidFill>
              </a:rPr>
              <a:t>R$ 13,2 MM (-12%)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Off-market: -1,5 a 17,5% (Zillow / Bright MLS-Drexel)  |  Cenário ilustrativo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B037"/>
          </a:solidFill>
          <a:ln/>
        </p:spPr>
      </p:sp>
      <p:sp>
        <p:nvSpPr>
          <p:cNvPr id="3" name="Text 1"/>
          <p:cNvSpPr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9B037"/>
                </a:solidFill>
              </a:rPr>
              <a:t>▲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C9B0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3-4x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1828800" y="2377440"/>
            <a:ext cx="8531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projetado no primeiro ano (cenário base)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0" y="3108960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7x+ a partir do segundo ano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0" y="3840480"/>
            <a:ext cx="2130552" cy="18288"/>
          </a:xfrm>
          <a:prstGeom prst="rect">
            <a:avLst/>
          </a:prstGeom>
          <a:solidFill>
            <a:srgbClr val="C9B037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4114800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Projeção: 3-5 corretores, ticket R$ 7MM — editável no Financial Model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4846320"/>
            <a:ext cx="7616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dos CEOs reportam aumento de receita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atribuível a IA nos últimos 12 meses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28800" y="5577840"/>
            <a:ext cx="8531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— 29th Global CEO Survey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Você Recebe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12080" cy="960120"/>
          </a:xfrm>
          <a:prstGeom prst="roundRect">
            <a:avLst>
              <a:gd name="adj" fmla="val 5714"/>
            </a:avLst>
          </a:prstGeom>
          <a:solidFill>
            <a:srgbClr val="2A2A3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640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B037"/>
                </a:solidFill>
              </a:rPr>
              <a:t>❙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645920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B037"/>
                </a:solidFill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164592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Estratégico (80+ pgs)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5212080" cy="960120"/>
          </a:xfrm>
          <a:prstGeom prst="roundRect">
            <a:avLst>
              <a:gd name="adj" fmla="val 5714"/>
            </a:avLst>
          </a:prstGeom>
          <a:solidFill>
            <a:srgbClr val="2A2A3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788920"/>
            <a:ext cx="640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B037"/>
                </a:solidFill>
              </a:rPr>
              <a:t>❙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788920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B037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28800" y="278892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Técnico (60+ pgs)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212080" cy="960120"/>
          </a:xfrm>
          <a:prstGeom prst="roundRect">
            <a:avLst>
              <a:gd name="adj" fmla="val 5714"/>
            </a:avLst>
          </a:prstGeom>
          <a:solidFill>
            <a:srgbClr val="2A2A3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931920"/>
            <a:ext cx="640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B037"/>
                </a:solidFill>
              </a:rPr>
              <a:t>↔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3931920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B037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28800" y="393192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 Financeira (8 abas)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074920"/>
            <a:ext cx="5212080" cy="960120"/>
          </a:xfrm>
          <a:prstGeom prst="roundRect">
            <a:avLst>
              <a:gd name="adj" fmla="val 5714"/>
            </a:avLst>
          </a:prstGeom>
          <a:solidFill>
            <a:srgbClr val="2A2A3E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074920"/>
            <a:ext cx="640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B037"/>
                </a:solidFill>
              </a:rPr>
              <a:t>✦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5074920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B037"/>
                </a:solidFill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828800" y="507492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Intelligence (leads 24/7)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09360" y="1645920"/>
            <a:ext cx="5212080" cy="960120"/>
          </a:xfrm>
          <a:prstGeom prst="roundRect">
            <a:avLst>
              <a:gd name="adj" fmla="val 5714"/>
            </a:avLst>
          </a:prstGeom>
          <a:solidFill>
            <a:srgbClr val="2A2A3E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1645920"/>
            <a:ext cx="640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B037"/>
                </a:solidFill>
              </a:rPr>
              <a:t>❁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40880" y="1645920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B037"/>
                </a:solidFill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98080" y="164592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Pack (7 estudos)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09360" y="2788920"/>
            <a:ext cx="5212080" cy="960120"/>
          </a:xfrm>
          <a:prstGeom prst="roundRect">
            <a:avLst>
              <a:gd name="adj" fmla="val 5714"/>
            </a:avLst>
          </a:prstGeom>
          <a:solidFill>
            <a:srgbClr val="2A2A3E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2788920"/>
            <a:ext cx="640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B037"/>
                </a:solidFill>
              </a:rPr>
              <a:t>⏰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040880" y="2788920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B037"/>
                </a:solidFill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98080" y="278892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120h advisory (6 meses)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309360" y="3931920"/>
            <a:ext cx="5212080" cy="960120"/>
          </a:xfrm>
          <a:prstGeom prst="roundRect">
            <a:avLst>
              <a:gd name="adj" fmla="val 5714"/>
            </a:avLst>
          </a:prstGeom>
          <a:solidFill>
            <a:srgbClr val="2A2A3E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3931920"/>
            <a:ext cx="640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B037"/>
                </a:solidFill>
              </a:rPr>
              <a:t>✶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040880" y="3931920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B037"/>
                </a:solidFill>
              </a:rPr>
              <a:t>✓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498080" y="393192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Código-fonte — propriedade total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309360" y="5074920"/>
            <a:ext cx="5212080" cy="960120"/>
          </a:xfrm>
          <a:prstGeom prst="roundRect">
            <a:avLst>
              <a:gd name="adj" fmla="val 5714"/>
            </a:avLst>
          </a:prstGeom>
          <a:solidFill>
            <a:srgbClr val="2A2A3E"/>
          </a:solidFill>
          <a:ln/>
        </p:spPr>
      </p:sp>
      <p:sp>
        <p:nvSpPr>
          <p:cNvPr id="33" name="Text 31"/>
          <p:cNvSpPr/>
          <p:nvPr/>
        </p:nvSpPr>
        <p:spPr>
          <a:xfrm>
            <a:off x="6446520" y="5074920"/>
            <a:ext cx="640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B037"/>
                </a:solidFill>
              </a:rPr>
              <a:t>❂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040880" y="5074920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B037"/>
                </a:solidFill>
              </a:rPr>
              <a:t>✓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498080" y="507492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lock-in de fornecedor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Investimento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74720" cy="4389120"/>
          </a:xfrm>
          <a:prstGeom prst="roundRect">
            <a:avLst>
              <a:gd name="adj" fmla="val 2632"/>
            </a:avLst>
          </a:prstGeom>
          <a:solidFill>
            <a:srgbClr val="2A2A3E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202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Essencial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B0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R$ 350k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097280" y="3108960"/>
            <a:ext cx="2560320" cy="18288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291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Blueprint Estratégico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Financial Model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389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Research Pack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937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40h advisory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0560" y="1645920"/>
            <a:ext cx="3474720" cy="4389120"/>
          </a:xfrm>
          <a:prstGeom prst="roundRect">
            <a:avLst>
              <a:gd name="adj" fmla="val 2632"/>
            </a:avLst>
          </a:prstGeom>
          <a:solidFill>
            <a:srgbClr val="1A2A1A"/>
          </a:solidFill>
          <a:ln w="31750">
            <a:solidFill>
              <a:srgbClr val="C9B0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14630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C9B037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463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80560" y="19202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B0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Profissional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480560" y="23774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B0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R$ 450k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4937760" y="3108960"/>
            <a:ext cx="2560320" cy="18288"/>
          </a:xfrm>
          <a:prstGeom prst="rect">
            <a:avLst/>
          </a:prstGeom>
          <a:solidFill>
            <a:srgbClr val="C9B037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3291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Tudo do Essencial +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3840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Guia Técnico (TIG)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4389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Aria Intelligence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4937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80h advisory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321040" y="1645920"/>
            <a:ext cx="3474720" cy="4389120"/>
          </a:xfrm>
          <a:prstGeom prst="roundRect">
            <a:avLst>
              <a:gd name="adj" fmla="val 2632"/>
            </a:avLst>
          </a:prstGeom>
          <a:solidFill>
            <a:srgbClr val="2A2A3E"/>
          </a:solidFill>
          <a:ln w="12700">
            <a:solidFill>
              <a:srgbClr val="00A3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19202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321040" y="23774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B0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R$ 600k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8778240" y="3108960"/>
            <a:ext cx="2560320" cy="18288"/>
          </a:xfrm>
          <a:prstGeom prst="rect">
            <a:avLst/>
          </a:prstGeom>
          <a:solidFill>
            <a:srgbClr val="00A3B5"/>
          </a:solidFill>
          <a:ln/>
        </p:spPr>
      </p:sp>
      <p:sp>
        <p:nvSpPr>
          <p:cNvPr id="26" name="Text 24"/>
          <p:cNvSpPr/>
          <p:nvPr/>
        </p:nvSpPr>
        <p:spPr>
          <a:xfrm>
            <a:off x="8595360" y="3291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Tudo do Profissional +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95360" y="3840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Implementação assistida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95360" y="4389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120h advisory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95360" y="4937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Suporte 6 meses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Timeline — 6 Meses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3017520"/>
            <a:ext cx="10881360" cy="137160"/>
          </a:xfrm>
          <a:prstGeom prst="roundRect">
            <a:avLst>
              <a:gd name="adj" fmla="val 46667"/>
            </a:avLst>
          </a:prstGeom>
          <a:solidFill>
            <a:srgbClr val="C9B037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2834640"/>
            <a:ext cx="457200" cy="457200"/>
          </a:xfrm>
          <a:prstGeom prst="ellipse">
            <a:avLst/>
          </a:prstGeom>
          <a:solidFill>
            <a:srgbClr val="C9B037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B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1-2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+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0" y="2834640"/>
            <a:ext cx="457200" cy="457200"/>
          </a:xfrm>
          <a:prstGeom prst="ellipse">
            <a:avLst/>
          </a:prstGeom>
          <a:solidFill>
            <a:srgbClr val="00A3B5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6080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22860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 Ball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6080" y="347472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preditivo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treinado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2834640"/>
            <a:ext cx="457200" cy="457200"/>
          </a:xfrm>
          <a:prstGeom prst="ellipse">
            <a:avLst/>
          </a:prstGeom>
          <a:solidFill>
            <a:srgbClr val="C9B037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12080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B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12080" y="22860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Negociação +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Office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12080" y="347472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operacionais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0" y="2834640"/>
            <a:ext cx="457200" cy="457200"/>
          </a:xfrm>
          <a:prstGeom prst="ellipse">
            <a:avLst/>
          </a:prstGeom>
          <a:solidFill>
            <a:srgbClr val="00A3B5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98080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98080" y="22860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98080" y="347472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B2B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515600" y="2834640"/>
            <a:ext cx="457200" cy="457200"/>
          </a:xfrm>
          <a:prstGeom prst="ellipse">
            <a:avLst/>
          </a:prstGeom>
          <a:solidFill>
            <a:srgbClr val="C9B037"/>
          </a:solidFill>
          <a:ln/>
        </p:spPr>
      </p:sp>
      <p:sp>
        <p:nvSpPr>
          <p:cNvPr id="26" name="Text 24"/>
          <p:cNvSpPr/>
          <p:nvPr/>
        </p:nvSpPr>
        <p:spPr>
          <a:xfrm>
            <a:off x="1051560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784080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B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84080" y="22860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784080" y="347472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ferramentas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0" y="5029200"/>
            <a:ext cx="5788152" cy="731520"/>
          </a:xfrm>
          <a:prstGeom prst="roundRect">
            <a:avLst>
              <a:gd name="adj" fmla="val 10000"/>
            </a:avLst>
          </a:prstGeom>
          <a:solidFill>
            <a:srgbClr val="2A2A3E"/>
          </a:solidFill>
          <a:ln w="12700">
            <a:solidFill>
              <a:srgbClr val="C9B0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5029200"/>
            <a:ext cx="5422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B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✸  90 dias: Digital Twin + Crystal Ball ativos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Agora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383280" cy="3474720"/>
          </a:xfrm>
          <a:prstGeom prst="roundRect">
            <a:avLst>
              <a:gd name="adj" fmla="val 2703"/>
            </a:avLst>
          </a:prstGeom>
          <a:solidFill>
            <a:srgbClr val="2A2A3E"/>
          </a:solidFill>
          <a:ln w="12700">
            <a:solidFill>
              <a:srgbClr val="3A3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9B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26517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B0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US$ 16,7 Bi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68680" y="34747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investidos em proptech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2025 (+68% YoY)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297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CRETI 2025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645920"/>
            <a:ext cx="3383280" cy="3474720"/>
          </a:xfrm>
          <a:prstGeom prst="roundRect">
            <a:avLst>
              <a:gd name="adj" fmla="val 2703"/>
            </a:avLst>
          </a:prstGeom>
          <a:solidFill>
            <a:srgbClr val="2A2A3E"/>
          </a:solidFill>
          <a:ln w="12700">
            <a:solidFill>
              <a:srgbClr val="3A3A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9B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✸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26280" y="26517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B0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617720" y="34747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anual em IA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imobiliária vs. 24% convencional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4297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PitchBook/CRETI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1645920"/>
            <a:ext cx="3383280" cy="3474720"/>
          </a:xfrm>
          <a:prstGeom prst="roundRect">
            <a:avLst>
              <a:gd name="adj" fmla="val 2703"/>
            </a:avLst>
          </a:prstGeom>
          <a:solidFill>
            <a:srgbClr val="2A2A3E"/>
          </a:solidFill>
          <a:ln w="12700">
            <a:solidFill>
              <a:srgbClr val="3A3A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9B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275320" y="26517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B0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78%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366760" y="34747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executivos RE: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é prioridade #1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66760" y="4297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71600" y="5669280"/>
            <a:ext cx="9445752" cy="640080"/>
          </a:xfrm>
          <a:prstGeom prst="roundRect">
            <a:avLst>
              <a:gd name="adj" fmla="val 8571"/>
            </a:avLst>
          </a:prstGeom>
          <a:solidFill>
            <a:srgbClr val="0D0D0D"/>
          </a:solidFill>
          <a:ln w="12700">
            <a:solidFill>
              <a:srgbClr val="C9B0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54480" y="5669280"/>
            <a:ext cx="9079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B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implementar primeiro captura o moat de dados. Quem esperar, compra tecnologia defasada.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486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B037"/>
                </a:solidFill>
              </a:rPr>
              <a:t>◆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0" y="91440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B0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BPR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201168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 Passo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754880" y="2880360"/>
            <a:ext cx="2651760" cy="27432"/>
          </a:xfrm>
          <a:prstGeom prst="rect">
            <a:avLst/>
          </a:prstGeom>
          <a:solidFill>
            <a:srgbClr val="C9B037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3200400"/>
            <a:ext cx="8531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Agende uma sessão de 45 minutos para modelar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cenário da SUA imobiliária.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43891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Paulo Gomes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0" y="48463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[email]  |  [telefone]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B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BPR Intelligence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BPR Intelligence Pitch Deck</dc:title>
  <dc:subject>Pitch Deck — Imobiliárias de Alto Padrão</dc:subject>
  <dc:creator>BPR Intelligence</dc:creator>
  <cp:lastModifiedBy>BPR Intelligence</cp:lastModifiedBy>
  <cp:revision>1</cp:revision>
  <dcterms:created xsi:type="dcterms:W3CDTF">2026-02-24T23:33:49Z</dcterms:created>
  <dcterms:modified xsi:type="dcterms:W3CDTF">2026-02-24T23:33:49Z</dcterms:modified>
</cp:coreProperties>
</file>